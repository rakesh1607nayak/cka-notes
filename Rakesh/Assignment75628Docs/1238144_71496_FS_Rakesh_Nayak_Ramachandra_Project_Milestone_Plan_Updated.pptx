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CB66C4-9B91-4B3A-8882-38FCFF2DE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365122A-F9A8-478F-A50A-A57123D34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C10088-4068-4C4B-8931-DFE80DCF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B3B019F-920D-49FE-B82D-2B6C7F54F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C363B12-F76C-45A4-B927-3DAB701D6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54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177549-6BBC-435F-8894-B17DC395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52ACA9-F2CB-4718-8BAA-7EE6B94D5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DAD9BCB-27AE-4170-ABA7-751B2EC4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F813BDF-C8BC-42C4-998C-F3C358766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3919E89-95E7-43C1-B721-622066C6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6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13156C-D935-4518-AFDC-AC7AE11D4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1F22804-282C-468F-AB54-273DAD8A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FA04CA3-0666-436A-BD25-2DBC7D85D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444F7D4-0868-48A8-B8C0-532C4D15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2DC486A-397F-438D-A9F1-904CA3AE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0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DEB764-9F44-4DFC-B8B5-B45A459E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ABE665E-1333-4C6F-B089-13F7D9076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A5A8A95-039A-4331-8F69-7154BC9C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A1BC47E-F309-475F-8628-32407785E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D9E7F53-8057-49F4-8838-2A99B233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BA1111C-5A95-40CB-AECA-21919341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DB85A0-011C-40F6-B61F-B2551181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84350EB-9749-45EA-8184-8EACBF7B1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BE2FDA8-1DD4-4022-9B9C-359B82BC6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649F24C-1DBC-413C-A51C-F0796604C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87AD611-A0AF-408E-9FC5-D55ECC51E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17DE3EF-B6A1-43E3-8C5F-4D3DCE6AE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3E739C5-AAF8-46B7-B0E1-BAC7D2340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91EC1DC-DAEE-4DBA-949C-FAA4DBD5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0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37A173-E627-44E2-9FB5-14BAE224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3F76274-DFBF-47BA-83E1-E38C9B7F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7B73782-1BA5-4853-AC7A-EC051DA0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A5152E2-AC11-4D9C-BD6C-D70862EF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51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3DC1539D-292E-40B6-AD09-71173C7F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B54F36A-A8D5-466D-9866-53B165DC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CAC8986-8AA6-4129-9D4E-2A70CAC6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40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CE41DF-E0CE-4051-96DF-44026805E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5F36D71-5E98-4411-991C-3C731AB83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5FB0769-F466-40DE-83F7-4AE978ECD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2813BD7-1AB7-43DF-957B-AA3A0C00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8D7E5B8-CB13-42BE-A9F1-70EFC4DEE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B6A2A2B-80CF-4F4B-9D4D-679E7058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3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BAB059-4807-4356-AE91-F483AA4E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E43A8F6-6C02-4483-B0C2-2E743F074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A058A4F-5A48-4980-9ACD-788DDADF9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02DE89D-B710-4287-947D-ED5C58C92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D09D80F-23B1-4F90-A8CD-A8C5650D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973EEC3-E249-4CEF-99EC-E7F1694B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57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80C49E-D65D-4F7B-80BB-B843522C2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D667A93-6D30-4045-8707-5A4D969BC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8A3661-7A98-4F18-9342-FF15090E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D4931C5-2D57-443E-85DA-F23BE96B7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A2E1C8C-407E-4387-97C4-F87EAD55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5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E5D13B51-8337-489A-90AD-7E4D2BFB5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FDA81B9-B19E-4242-B95E-332C17531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9AFEABA-E505-48B0-B937-183A26FA9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658-23CD-4F69-B208-95D9DA9226B8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87347CF-09BC-47C7-8D46-67D9896E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69DDD14-55D3-4763-B3F7-9A690DA2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31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DCB4C8B7-BD5E-42B5-A219-4CCA8EEBA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90CFA54-3AC1-4686-A039-E03746708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28D0047-BCB0-44BA-90A7-8DD26A22B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D0658-23CD-4F69-B208-95D9DA9226B8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47272E9-0609-491F-959E-6CC43F8E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89EDC24-ED55-4596-BFFF-95EFA789C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DE62B-6111-4E33-9FDC-B3C9257C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0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3A6C5EA3-96AF-488B-90F7-F9925830316B}"/>
              </a:ext>
            </a:extLst>
          </p:cNvPr>
          <p:cNvGrpSpPr/>
          <p:nvPr/>
        </p:nvGrpSpPr>
        <p:grpSpPr>
          <a:xfrm>
            <a:off x="713232" y="1398524"/>
            <a:ext cx="11256264" cy="5322316"/>
            <a:chOff x="713232" y="1398524"/>
            <a:chExt cx="11256264" cy="5322316"/>
          </a:xfrm>
        </p:grpSpPr>
        <p:sp>
          <p:nvSpPr>
            <p:cNvPr id="7" name="Rectangle 3">
              <a:extLst>
                <a:ext uri="{FF2B5EF4-FFF2-40B4-BE49-F238E27FC236}">
                  <a16:creationId xmlns="" xmlns:a16="http://schemas.microsoft.com/office/drawing/2014/main" id="{98D8760D-1E4D-46C2-A4D2-E8A22A914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237" y="1405330"/>
              <a:ext cx="11247259" cy="531551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8" name="Rectangle 4">
              <a:extLst>
                <a:ext uri="{FF2B5EF4-FFF2-40B4-BE49-F238E27FC236}">
                  <a16:creationId xmlns="" xmlns:a16="http://schemas.microsoft.com/office/drawing/2014/main" id="{3FED8F94-F324-4D98-B2F5-8CD256C31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235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Oct’20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	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="" xmlns:a16="http://schemas.microsoft.com/office/drawing/2014/main" id="{2476850F-29E0-413A-A3A1-E52826373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6543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Nov 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‘</a:t>
              </a:r>
              <a:r>
                <a:rPr lang="en-US" sz="1400" b="1" kern="0" dirty="0" smtClean="0">
                  <a:solidFill>
                    <a:srgbClr val="000000"/>
                  </a:solidFill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20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="" xmlns:a16="http://schemas.microsoft.com/office/drawing/2014/main" id="{53B8057A-58D1-49D9-99B9-2A9CEDA73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0852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Dec 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‘</a:t>
              </a:r>
              <a:r>
                <a:rPr lang="en-US" sz="1400" b="1" kern="0" dirty="0" smtClean="0">
                  <a:solidFill>
                    <a:srgbClr val="000000"/>
                  </a:solidFill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20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="" xmlns:a16="http://schemas.microsoft.com/office/drawing/2014/main" id="{D49EFB20-F894-4F67-91C4-866812C7A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5160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Jan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2" name="Rectangle 8">
              <a:extLst>
                <a:ext uri="{FF2B5EF4-FFF2-40B4-BE49-F238E27FC236}">
                  <a16:creationId xmlns="" xmlns:a16="http://schemas.microsoft.com/office/drawing/2014/main" id="{F8ED7A54-FCA9-412E-9DA4-6631295FE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9468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Feb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3" name="Rectangle 9">
              <a:extLst>
                <a:ext uri="{FF2B5EF4-FFF2-40B4-BE49-F238E27FC236}">
                  <a16:creationId xmlns="" xmlns:a16="http://schemas.microsoft.com/office/drawing/2014/main" id="{7A75A395-9DFE-4DBE-BA1E-EC856DFD4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776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Mar 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’21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	</a:t>
              </a:r>
            </a:p>
          </p:txBody>
        </p:sp>
        <p:sp>
          <p:nvSpPr>
            <p:cNvPr id="14" name="Rectangle 10">
              <a:extLst>
                <a:ext uri="{FF2B5EF4-FFF2-40B4-BE49-F238E27FC236}">
                  <a16:creationId xmlns="" xmlns:a16="http://schemas.microsoft.com/office/drawing/2014/main" id="{B6284E63-BFBA-42A6-B9A9-9ABB1D4AB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8084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Apr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5" name="Rectangle 11">
              <a:extLst>
                <a:ext uri="{FF2B5EF4-FFF2-40B4-BE49-F238E27FC236}">
                  <a16:creationId xmlns="" xmlns:a16="http://schemas.microsoft.com/office/drawing/2014/main" id="{D08067BE-C56A-4D26-9CE2-F98946CCB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2392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May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6" name="Rectangle 12">
              <a:extLst>
                <a:ext uri="{FF2B5EF4-FFF2-40B4-BE49-F238E27FC236}">
                  <a16:creationId xmlns="" xmlns:a16="http://schemas.microsoft.com/office/drawing/2014/main" id="{5522E827-D1F2-404C-8068-7D7CB6396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6700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Jun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7" name="Rectangle 13">
              <a:extLst>
                <a:ext uri="{FF2B5EF4-FFF2-40B4-BE49-F238E27FC236}">
                  <a16:creationId xmlns="" xmlns:a16="http://schemas.microsoft.com/office/drawing/2014/main" id="{CF36D38D-9F15-4C9C-8403-0137822B7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1009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Jul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8" name="Rectangle 14">
              <a:extLst>
                <a:ext uri="{FF2B5EF4-FFF2-40B4-BE49-F238E27FC236}">
                  <a16:creationId xmlns="" xmlns:a16="http://schemas.microsoft.com/office/drawing/2014/main" id="{03687E7B-8887-4068-A6EC-87B5DF139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5317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Aug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19" name="Rectangle 15">
              <a:extLst>
                <a:ext uri="{FF2B5EF4-FFF2-40B4-BE49-F238E27FC236}">
                  <a16:creationId xmlns="" xmlns:a16="http://schemas.microsoft.com/office/drawing/2014/main" id="{FD7C7108-86FE-4139-BE8D-736C62091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9625" y="1405330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Sep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  <p:sp>
          <p:nvSpPr>
            <p:cNvPr id="20" name="Line 16">
              <a:extLst>
                <a:ext uri="{FF2B5EF4-FFF2-40B4-BE49-F238E27FC236}">
                  <a16:creationId xmlns="" xmlns:a16="http://schemas.microsoft.com/office/drawing/2014/main" id="{73AAFA28-3F80-4867-8E60-96C7A95CD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232" y="1888558"/>
              <a:ext cx="1037169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17">
              <a:extLst>
                <a:ext uri="{FF2B5EF4-FFF2-40B4-BE49-F238E27FC236}">
                  <a16:creationId xmlns="" xmlns:a16="http://schemas.microsoft.com/office/drawing/2014/main" id="{D54E8320-0811-4CAE-AB02-4ECCBB6F7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542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2" name="Line 18">
              <a:extLst>
                <a:ext uri="{FF2B5EF4-FFF2-40B4-BE49-F238E27FC236}">
                  <a16:creationId xmlns="" xmlns:a16="http://schemas.microsoft.com/office/drawing/2014/main" id="{3771CF44-10AE-4655-8D6D-0AAEFCAAD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1850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3" name="Line 19">
              <a:extLst>
                <a:ext uri="{FF2B5EF4-FFF2-40B4-BE49-F238E27FC236}">
                  <a16:creationId xmlns="" xmlns:a16="http://schemas.microsoft.com/office/drawing/2014/main" id="{D5458624-0A8B-4834-84FF-345E83D8D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158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4" name="Line 21">
              <a:extLst>
                <a:ext uri="{FF2B5EF4-FFF2-40B4-BE49-F238E27FC236}">
                  <a16:creationId xmlns="" xmlns:a16="http://schemas.microsoft.com/office/drawing/2014/main" id="{CBFEDF1F-C74C-4AF8-9684-3E84B4A56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4774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5" name="Line 22">
              <a:extLst>
                <a:ext uri="{FF2B5EF4-FFF2-40B4-BE49-F238E27FC236}">
                  <a16:creationId xmlns="" xmlns:a16="http://schemas.microsoft.com/office/drawing/2014/main" id="{1BD1544A-3299-41E7-80C4-05098B996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9082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6" name="Line 23">
              <a:extLst>
                <a:ext uri="{FF2B5EF4-FFF2-40B4-BE49-F238E27FC236}">
                  <a16:creationId xmlns="" xmlns:a16="http://schemas.microsoft.com/office/drawing/2014/main" id="{B084040E-B562-4F99-A896-23533E346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3391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="" xmlns:a16="http://schemas.microsoft.com/office/drawing/2014/main" id="{FEF48BEB-A683-4397-9FAE-20DDB4960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7699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8" name="Line 25">
              <a:extLst>
                <a:ext uri="{FF2B5EF4-FFF2-40B4-BE49-F238E27FC236}">
                  <a16:creationId xmlns="" xmlns:a16="http://schemas.microsoft.com/office/drawing/2014/main" id="{7795B8FB-8B68-4A2E-BCA0-2A3511617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2007" y="1398524"/>
              <a:ext cx="20257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9" name="Line 26">
              <a:extLst>
                <a:ext uri="{FF2B5EF4-FFF2-40B4-BE49-F238E27FC236}">
                  <a16:creationId xmlns="" xmlns:a16="http://schemas.microsoft.com/office/drawing/2014/main" id="{5447C5B9-EF0F-4061-9018-95F55EB399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68533" y="1398524"/>
              <a:ext cx="87782" cy="5322316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30" name="Line 27">
              <a:extLst>
                <a:ext uri="{FF2B5EF4-FFF2-40B4-BE49-F238E27FC236}">
                  <a16:creationId xmlns="" xmlns:a16="http://schemas.microsoft.com/office/drawing/2014/main" id="{2C485702-B51A-42FE-8730-7A8576C11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0623" y="1398524"/>
              <a:ext cx="20257" cy="5240644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31" name="AutoShape 32">
              <a:extLst>
                <a:ext uri="{FF2B5EF4-FFF2-40B4-BE49-F238E27FC236}">
                  <a16:creationId xmlns="" xmlns:a16="http://schemas.microsoft.com/office/drawing/2014/main" id="{B98AAFF3-001A-4147-BA31-5ADB408A8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637" y="2045097"/>
              <a:ext cx="2420738" cy="302870"/>
            </a:xfrm>
            <a:prstGeom prst="homePlate">
              <a:avLst>
                <a:gd name="adj" fmla="val 58947"/>
              </a:avLst>
            </a:prstGeom>
            <a:solidFill>
              <a:srgbClr val="FFE6B3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Inception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32" name="Line 44">
              <a:extLst>
                <a:ext uri="{FF2B5EF4-FFF2-40B4-BE49-F238E27FC236}">
                  <a16:creationId xmlns="" xmlns:a16="http://schemas.microsoft.com/office/drawing/2014/main" id="{2AB79089-FD98-4BBE-8EE7-C1EB35BF3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489" y="1857932"/>
              <a:ext cx="11236006" cy="44239"/>
            </a:xfrm>
            <a:prstGeom prst="line">
              <a:avLst/>
            </a:prstGeom>
            <a:noFill/>
            <a:ln w="19050">
              <a:solidFill>
                <a:srgbClr val="00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8588" tIns="65088" rIns="128588" bIns="65088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43">
              <a:extLst>
                <a:ext uri="{FF2B5EF4-FFF2-40B4-BE49-F238E27FC236}">
                  <a16:creationId xmlns="" xmlns:a16="http://schemas.microsoft.com/office/drawing/2014/main" id="{099E5F19-1EB3-489B-80D9-C4B287FE4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235" y="1405330"/>
              <a:ext cx="10353691" cy="5315510"/>
            </a:xfrm>
            <a:prstGeom prst="rect">
              <a:avLst/>
            </a:prstGeom>
            <a:noFill/>
            <a:ln w="6350">
              <a:solidFill>
                <a:srgbClr val="0066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4" name="Rectangle 31">
              <a:extLst>
                <a:ext uri="{FF2B5EF4-FFF2-40B4-BE49-F238E27FC236}">
                  <a16:creationId xmlns="" xmlns:a16="http://schemas.microsoft.com/office/drawing/2014/main" id="{6E62A3E8-A053-4087-898D-C82ADD694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89" y="2490893"/>
              <a:ext cx="2484886" cy="881381"/>
            </a:xfrm>
            <a:prstGeom prst="rect">
              <a:avLst/>
            </a:prstGeom>
            <a:solidFill>
              <a:srgbClr val="FFE6B3"/>
            </a:solidFill>
            <a:ln w="12700" algn="ctr">
              <a:solidFill>
                <a:srgbClr val="FFE6B3"/>
              </a:solidFill>
              <a:round/>
              <a:headEnd/>
              <a:tailEnd/>
            </a:ln>
          </p:spPr>
          <p:txBody>
            <a:bodyPr lIns="128588" tIns="65088" rIns="128588" bIns="65088" anchor="ctr"/>
            <a:lstStyle>
              <a:lvl1pPr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Kick off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Knowledge   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 Gathering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Application Profile/Scoping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Planning</a:t>
              </a:r>
            </a:p>
          </p:txBody>
        </p:sp>
        <p:sp>
          <p:nvSpPr>
            <p:cNvPr id="35" name="Rectangle 32">
              <a:extLst>
                <a:ext uri="{FF2B5EF4-FFF2-40B4-BE49-F238E27FC236}">
                  <a16:creationId xmlns="" xmlns:a16="http://schemas.microsoft.com/office/drawing/2014/main" id="{5B714FBF-EB48-4034-8573-52528BAB3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176" y="2899255"/>
              <a:ext cx="2484886" cy="799709"/>
            </a:xfrm>
            <a:prstGeom prst="rect">
              <a:avLst/>
            </a:prstGeom>
            <a:solidFill>
              <a:srgbClr val="97CCCD"/>
            </a:solidFill>
            <a:ln w="12700" algn="ctr">
              <a:solidFill>
                <a:srgbClr val="FFE6B3"/>
              </a:solidFill>
              <a:round/>
              <a:headEnd/>
              <a:tailEnd/>
            </a:ln>
          </p:spPr>
          <p:txBody>
            <a:bodyPr lIns="128588" tIns="65088" rIns="128588" bIns="65088" anchor="ctr"/>
            <a:lstStyle>
              <a:lvl1pPr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Policy &amp; Procedures  Sessions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Shadow Phase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Elaborate User  Stories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UI Design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Technical Design</a:t>
              </a: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6" name="AutoShape 32">
              <a:extLst>
                <a:ext uri="{FF2B5EF4-FFF2-40B4-BE49-F238E27FC236}">
                  <a16:creationId xmlns="" xmlns:a16="http://schemas.microsoft.com/office/drawing/2014/main" id="{3C8A562B-0492-4F65-9E37-F10E343A7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6413" y="2572564"/>
              <a:ext cx="2592924" cy="245017"/>
            </a:xfrm>
            <a:prstGeom prst="homePlate">
              <a:avLst>
                <a:gd name="adj" fmla="val 58947"/>
              </a:avLst>
            </a:prstGeom>
            <a:solidFill>
              <a:srgbClr val="97CCC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Elaboration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37" name="Rectangle 34">
              <a:extLst>
                <a:ext uri="{FF2B5EF4-FFF2-40B4-BE49-F238E27FC236}">
                  <a16:creationId xmlns="" xmlns:a16="http://schemas.microsoft.com/office/drawing/2014/main" id="{7679EEBB-5809-4AFC-9720-1B7D150AE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721" y="4206013"/>
              <a:ext cx="3025079" cy="799709"/>
            </a:xfrm>
            <a:prstGeom prst="rect">
              <a:avLst/>
            </a:prstGeom>
            <a:solidFill>
              <a:srgbClr val="669900">
                <a:alpha val="36078"/>
              </a:srgbClr>
            </a:solidFill>
            <a:ln w="12700" algn="ctr">
              <a:solidFill>
                <a:srgbClr val="FFE6B3"/>
              </a:solidFill>
              <a:round/>
              <a:headEnd/>
              <a:tailEnd/>
            </a:ln>
          </p:spPr>
          <p:txBody>
            <a:bodyPr lIns="128588" tIns="65088" rIns="128588" bIns="65088" anchor="ctr"/>
            <a:lstStyle>
              <a:lvl1pPr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Reverse Job Shadow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iterative Development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Unit testing &amp; SI Testing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Complete Interfaces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Demo incremental product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Production Quality Checkouts</a:t>
              </a:r>
            </a:p>
          </p:txBody>
        </p:sp>
        <p:sp>
          <p:nvSpPr>
            <p:cNvPr id="38" name="AutoShape 32">
              <a:extLst>
                <a:ext uri="{FF2B5EF4-FFF2-40B4-BE49-F238E27FC236}">
                  <a16:creationId xmlns="" xmlns:a16="http://schemas.microsoft.com/office/drawing/2014/main" id="{CE01B5DF-9856-4DD6-95CB-CE4D4330B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721" y="3879323"/>
              <a:ext cx="3133117" cy="228002"/>
            </a:xfrm>
            <a:prstGeom prst="homePlate">
              <a:avLst>
                <a:gd name="adj" fmla="val 58947"/>
              </a:avLst>
            </a:prstGeom>
            <a:solidFill>
              <a:srgbClr val="669900">
                <a:alpha val="36000"/>
              </a:srgbClr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Construction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39" name="Rectangle 36">
              <a:extLst>
                <a:ext uri="{FF2B5EF4-FFF2-40B4-BE49-F238E27FC236}">
                  <a16:creationId xmlns="" xmlns:a16="http://schemas.microsoft.com/office/drawing/2014/main" id="{7F663DBA-374A-4455-B088-5A9CA5A7E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7376" y="5414082"/>
              <a:ext cx="2376847" cy="1225086"/>
            </a:xfrm>
            <a:prstGeom prst="rect">
              <a:avLst/>
            </a:prstGeom>
            <a:solidFill>
              <a:srgbClr val="FFCC66"/>
            </a:solidFill>
            <a:ln w="12700" algn="ctr">
              <a:solidFill>
                <a:srgbClr val="FFE6B3"/>
              </a:solidFill>
              <a:round/>
              <a:headEnd/>
              <a:tailEnd/>
            </a:ln>
          </p:spPr>
          <p:txBody>
            <a:bodyPr lIns="128588" tIns="65088" rIns="128588" bIns="65088" anchor="ctr"/>
            <a:lstStyle>
              <a:lvl1pPr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279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Performance Testing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UAT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Automation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User Training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Capacity   Planning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Performance Tuning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 Run the business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Production 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 Readiness</a:t>
              </a: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 </a:t>
              </a:r>
            </a:p>
          </p:txBody>
        </p:sp>
        <p:sp>
          <p:nvSpPr>
            <p:cNvPr id="40" name="AutoShape 32">
              <a:extLst>
                <a:ext uri="{FF2B5EF4-FFF2-40B4-BE49-F238E27FC236}">
                  <a16:creationId xmlns="" xmlns:a16="http://schemas.microsoft.com/office/drawing/2014/main" id="{150BC733-D2B4-44E7-ADC9-151AE1673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7376" y="5087394"/>
              <a:ext cx="5834080" cy="262032"/>
            </a:xfrm>
            <a:prstGeom prst="homePlate">
              <a:avLst>
                <a:gd name="adj" fmla="val 58947"/>
              </a:avLst>
            </a:prstGeom>
            <a:solidFill>
              <a:srgbClr val="FFCC66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Transition &amp; Steady State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41" name="AutoShape 32">
              <a:extLst>
                <a:ext uri="{FF2B5EF4-FFF2-40B4-BE49-F238E27FC236}">
                  <a16:creationId xmlns="" xmlns:a16="http://schemas.microsoft.com/office/drawing/2014/main" id="{5274C709-BED6-4ECC-A619-113849C50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2262" y="5414082"/>
              <a:ext cx="3349194" cy="245017"/>
            </a:xfrm>
            <a:prstGeom prst="homePlate">
              <a:avLst>
                <a:gd name="adj" fmla="val 58947"/>
              </a:avLst>
            </a:prstGeom>
            <a:solidFill>
              <a:srgbClr val="EDEDED">
                <a:lumMod val="75000"/>
                <a:lumOff val="25000"/>
                <a:alpha val="53000"/>
              </a:srgbClr>
            </a:solidFill>
            <a:ln w="6350">
              <a:solidFill>
                <a:srgbClr val="0070AD">
                  <a:lumMod val="75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Production  Support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42" name="Right Arrow 40">
              <a:extLst>
                <a:ext uri="{FF2B5EF4-FFF2-40B4-BE49-F238E27FC236}">
                  <a16:creationId xmlns="" xmlns:a16="http://schemas.microsoft.com/office/drawing/2014/main" id="{5157C75A-0938-4E29-8EDE-9C8A816EDEEF}"/>
                </a:ext>
              </a:extLst>
            </p:cNvPr>
            <p:cNvSpPr/>
            <p:nvPr/>
          </p:nvSpPr>
          <p:spPr bwMode="auto">
            <a:xfrm>
              <a:off x="10564994" y="4842376"/>
              <a:ext cx="1296462" cy="163345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0070AD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lIns="128588" tIns="65088" rIns="128588" bIns="65088" anchor="ctr"/>
            <a:lstStyle/>
            <a:p>
              <a:pPr marL="0" marR="0" lvl="0" indent="0" algn="ctr" defTabSz="127952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43" name="AutoShape 32">
              <a:extLst>
                <a:ext uri="{FF2B5EF4-FFF2-40B4-BE49-F238E27FC236}">
                  <a16:creationId xmlns="" xmlns:a16="http://schemas.microsoft.com/office/drawing/2014/main" id="{DC023DC0-941E-4FD9-B4B8-800D3944E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2262" y="5740772"/>
              <a:ext cx="3349194" cy="245017"/>
            </a:xfrm>
            <a:prstGeom prst="homePlate">
              <a:avLst>
                <a:gd name="adj" fmla="val 58947"/>
              </a:avLst>
            </a:prstGeom>
            <a:solidFill>
              <a:srgbClr val="EDEDED">
                <a:lumMod val="75000"/>
                <a:lumOff val="25000"/>
                <a:alpha val="53000"/>
              </a:srgbClr>
            </a:solidFill>
            <a:ln w="6350">
              <a:solidFill>
                <a:srgbClr val="0070AD">
                  <a:lumMod val="75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Minor Enhancements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44" name="AutoShape 32">
              <a:extLst>
                <a:ext uri="{FF2B5EF4-FFF2-40B4-BE49-F238E27FC236}">
                  <a16:creationId xmlns="" xmlns:a16="http://schemas.microsoft.com/office/drawing/2014/main" id="{345AF212-6322-473F-8335-E1EF3DC2B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2262" y="6067461"/>
              <a:ext cx="3349194" cy="245017"/>
            </a:xfrm>
            <a:prstGeom prst="homePlate">
              <a:avLst>
                <a:gd name="adj" fmla="val 58947"/>
              </a:avLst>
            </a:prstGeom>
            <a:solidFill>
              <a:srgbClr val="EDEDED">
                <a:lumMod val="75000"/>
                <a:lumOff val="25000"/>
                <a:alpha val="53000"/>
              </a:srgbClr>
            </a:solidFill>
            <a:ln w="6350">
              <a:solidFill>
                <a:srgbClr val="0070AD">
                  <a:lumMod val="75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Major Enhancements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45" name="AutoShape 32">
              <a:extLst>
                <a:ext uri="{FF2B5EF4-FFF2-40B4-BE49-F238E27FC236}">
                  <a16:creationId xmlns="" xmlns:a16="http://schemas.microsoft.com/office/drawing/2014/main" id="{0C7BADFB-5D52-4CCF-AB98-D748ABB85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2262" y="6394151"/>
              <a:ext cx="3349194" cy="245017"/>
            </a:xfrm>
            <a:prstGeom prst="homePlate">
              <a:avLst>
                <a:gd name="adj" fmla="val 58947"/>
              </a:avLst>
            </a:prstGeom>
            <a:solidFill>
              <a:srgbClr val="EDEDED">
                <a:lumMod val="75000"/>
                <a:lumOff val="25000"/>
                <a:alpha val="53000"/>
              </a:srgbClr>
            </a:solidFill>
            <a:ln w="6350">
              <a:solidFill>
                <a:srgbClr val="0070AD">
                  <a:lumMod val="75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ea typeface="MS PGothic" charset="-128"/>
                </a:rPr>
                <a:t>New  Projects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ea typeface="MS PGothic" charset="-128"/>
              </a:endParaRPr>
            </a:p>
          </p:txBody>
        </p:sp>
        <p:sp>
          <p:nvSpPr>
            <p:cNvPr id="46" name="Rectangle 15">
              <a:extLst>
                <a:ext uri="{FF2B5EF4-FFF2-40B4-BE49-F238E27FC236}">
                  <a16:creationId xmlns="" xmlns:a16="http://schemas.microsoft.com/office/drawing/2014/main" id="{015DF015-DCDA-4C37-B20F-6981A9DB1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3193" y="1412136"/>
              <a:ext cx="846302" cy="476422"/>
            </a:xfrm>
            <a:prstGeom prst="rect">
              <a:avLst/>
            </a:prstGeom>
            <a:solidFill>
              <a:srgbClr val="0070AD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Oct ‘</a:t>
              </a:r>
              <a:r>
                <a:rPr kumimoji="0" 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-128"/>
                  <a:cs typeface="Arial" panose="020B0604020202020204" pitchFamily="34" charset="0"/>
                </a:rPr>
                <a:t>21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2232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119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MS PGothic</vt:lpstr>
      <vt:lpstr>Arial</vt:lpstr>
      <vt:lpstr>Calibri</vt:lpstr>
      <vt:lpstr>Calibri Light</vt:lpstr>
      <vt:lpstr>Verdana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Joshi, Rahul</dc:creator>
  <cp:lastModifiedBy>R, Rakesh</cp:lastModifiedBy>
  <cp:revision>4</cp:revision>
  <dcterms:created xsi:type="dcterms:W3CDTF">2019-01-21T13:30:03Z</dcterms:created>
  <dcterms:modified xsi:type="dcterms:W3CDTF">2020-03-06T15:47:24Z</dcterms:modified>
</cp:coreProperties>
</file>