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sldIdLst>
    <p:sldId id="332" r:id="rId5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6699FF"/>
    <a:srgbClr val="FFFFFF"/>
    <a:srgbClr val="339966"/>
    <a:srgbClr val="8888D8"/>
    <a:srgbClr val="FFFFCC"/>
    <a:srgbClr val="002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 autoAdjust="0"/>
    <p:restoredTop sz="96667" autoAdjust="0"/>
  </p:normalViewPr>
  <p:slideViewPr>
    <p:cSldViewPr>
      <p:cViewPr varScale="1">
        <p:scale>
          <a:sx n="70" d="100"/>
          <a:sy n="70" d="100"/>
        </p:scale>
        <p:origin x="1452" y="72"/>
      </p:cViewPr>
      <p:guideLst>
        <p:guide orient="horz" pos="2160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6425"/>
            <a:ext cx="50292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2C7273D0-5CFB-40F3-9BA4-0DC1861DE3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239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590550" y="51816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600">
              <a:solidFill>
                <a:srgbClr val="002469"/>
              </a:solidFill>
              <a:ea typeface="ＭＳ Ｐゴシック" pitchFamily="1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73088" y="2971800"/>
            <a:ext cx="8001000" cy="533400"/>
          </a:xfrm>
        </p:spPr>
        <p:txBody>
          <a:bodyPr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73088" y="3505200"/>
            <a:ext cx="8001000" cy="457200"/>
          </a:xfrm>
        </p:spPr>
        <p:txBody>
          <a:bodyPr anchor="ctr"/>
          <a:lstStyle>
            <a:lvl1pPr marL="0" indent="0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7162800" y="64389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744FDF7-B18F-4436-A566-FAEE920E92CF}" type="slidenum">
              <a:rPr lang="en-US" sz="1000">
                <a:solidFill>
                  <a:schemeClr val="bg1"/>
                </a:solidFill>
                <a:ea typeface="ＭＳ Ｐゴシック" pitchFamily="1" charset="-128"/>
              </a:rPr>
              <a:pPr algn="r">
                <a:defRPr/>
              </a:pPr>
              <a:t>‹#›</a:t>
            </a:fld>
            <a:endParaRPr lang="en-US" sz="1000">
              <a:solidFill>
                <a:schemeClr val="bg1"/>
              </a:solidFill>
              <a:ea typeface="ＭＳ Ｐゴシック" pitchFamily="1" charset="-128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3117850" y="64389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en-US" sz="1000">
              <a:solidFill>
                <a:schemeClr val="bg1"/>
              </a:solidFill>
              <a:ea typeface="ＭＳ Ｐゴシック" pitchFamily="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  <p:sldLayoutId id="2147484285" r:id="rId8"/>
    <p:sldLayoutId id="2147484286" r:id="rId9"/>
    <p:sldLayoutId id="2147484287" r:id="rId10"/>
    <p:sldLayoutId id="2147484288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+mj-lt"/>
          <a:ea typeface="MS PGothic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MS PGothic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MS PGothic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MS PGothic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MS PGothic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ＭＳ Ｐゴシック" pitchFamily="1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ＭＳ Ｐゴシック" pitchFamily="1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ＭＳ Ｐゴシック" pitchFamily="1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469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MS PGothic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Times" pitchFamily="18" charset="0"/>
        <a:buChar char="•"/>
        <a:defRPr>
          <a:solidFill>
            <a:schemeClr val="tx1"/>
          </a:solidFill>
          <a:latin typeface="+mj-lt"/>
          <a:ea typeface="MS PGothic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j-lt"/>
          <a:ea typeface="MS PGothic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Times" pitchFamily="18" charset="0"/>
        <a:buChar char="•"/>
        <a:defRPr sz="1400">
          <a:solidFill>
            <a:schemeClr val="tx1"/>
          </a:solidFill>
          <a:latin typeface="+mj-lt"/>
          <a:ea typeface="MS PGothic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Times" pitchFamily="18" charset="0"/>
        <a:buChar char="•"/>
        <a:defRPr sz="1200">
          <a:solidFill>
            <a:schemeClr val="tx1"/>
          </a:solidFill>
          <a:latin typeface="+mj-lt"/>
          <a:ea typeface="MS PGothic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Times" pitchFamily="1" charset="0"/>
        <a:buChar char="•"/>
        <a:defRPr sz="1200">
          <a:solidFill>
            <a:schemeClr val="tx1"/>
          </a:solidFill>
          <a:latin typeface="+mj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Times" pitchFamily="1" charset="0"/>
        <a:buChar char="•"/>
        <a:defRPr sz="1200">
          <a:solidFill>
            <a:schemeClr val="tx1"/>
          </a:solidFill>
          <a:latin typeface="+mj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Times" pitchFamily="1" charset="0"/>
        <a:buChar char="•"/>
        <a:defRPr sz="1200">
          <a:solidFill>
            <a:schemeClr val="tx1"/>
          </a:solidFill>
          <a:latin typeface="+mj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Times" pitchFamily="1" charset="0"/>
        <a:buChar char="•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/>
          <p:cNvSpPr/>
          <p:nvPr/>
        </p:nvSpPr>
        <p:spPr bwMode="auto">
          <a:xfrm>
            <a:off x="2590006" y="533401"/>
            <a:ext cx="4191000" cy="1509558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dash"/>
          </a:ln>
          <a:effectLst/>
        </p:spPr>
        <p:txBody>
          <a:bodyPr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kern="0">
              <a:latin typeface="Arial"/>
              <a:ea typeface="+mn-ea"/>
            </a:endParaRPr>
          </a:p>
        </p:txBody>
      </p:sp>
      <p:sp>
        <p:nvSpPr>
          <p:cNvPr id="35" name="Title 2"/>
          <p:cNvSpPr txBox="1">
            <a:spLocks/>
          </p:cNvSpPr>
          <p:nvPr/>
        </p:nvSpPr>
        <p:spPr>
          <a:xfrm>
            <a:off x="457200" y="109538"/>
            <a:ext cx="8229600" cy="423862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rgbClr val="002F5F"/>
                </a:solidFill>
                <a:latin typeface="Arial" pitchFamily="34" charset="0"/>
                <a:ea typeface="+mj-ea"/>
                <a:cs typeface="Arial" pitchFamily="34" charset="0"/>
              </a:rPr>
              <a:t>Capgemini Solution Frameworks  : Project Team 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0206" y="2042958"/>
            <a:ext cx="1828800" cy="914400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Arial"/>
              </a:rPr>
              <a:t>Onsite Engagement Manager/Lead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000" y="609600"/>
            <a:ext cx="1828800" cy="990600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Arial"/>
                <a:ea typeface="+mn-ea"/>
              </a:rPr>
              <a:t>Business Unit Head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1029" y="3717994"/>
            <a:ext cx="1561703" cy="852643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Arial"/>
                <a:ea typeface="+mn-ea"/>
              </a:rPr>
              <a:t>Onsite Module Lead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149643"/>
              </p:ext>
            </p:extLst>
          </p:nvPr>
        </p:nvGraphicFramePr>
        <p:xfrm>
          <a:off x="2743199" y="2234252"/>
          <a:ext cx="6238875" cy="3894708"/>
        </p:xfrm>
        <a:graphic>
          <a:graphicData uri="http://schemas.openxmlformats.org/drawingml/2006/table">
            <a:tbl>
              <a:tblPr/>
              <a:tblGrid>
                <a:gridCol w="18803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30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54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038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Role1 `````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 Name</a:t>
                      </a:r>
                      <a:r>
                        <a:rPr lang="en-US" sz="1100" b="1" i="0" u="none" strike="noStrike" baseline="0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Responsibility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245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Business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Unit Head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Puthanmadhom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P.V. Narayan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Business Unit Leader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Account Management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Client Relationship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17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Capgemini Delivery Executive - Discover Account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Abhishek Shroti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Delivery Owner of the Account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 Technology and Domain Expert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176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Onsite Engagement Manager/Lead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Sreenivasan Masanamuthu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Overall Solution Design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 Technical Architecture </a:t>
                      </a: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176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Capgemini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Delivery Manager- Discover Account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Neetendra Tank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>
                        <a:buFontTx/>
                        <a:buChar char="-"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Delivery oversight &amp; escalations</a:t>
                      </a:r>
                    </a:p>
                    <a:p>
                      <a:pPr algn="l" fontAlgn="b">
                        <a:buFontTx/>
                        <a:buChar char="-"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Enforces Best Practices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-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Resource Manager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341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Onsite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Module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Lead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baseline="0" dirty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Rahul</a:t>
                      </a: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i="0" u="none" strike="noStrike" kern="1200" baseline="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Vasta</a:t>
                      </a:r>
                      <a:endParaRPr lang="en-US" sz="1100" b="0" i="0" u="none" strike="noStrike" kern="1200" baseline="0" dirty="0">
                        <a:solidFill>
                          <a:srgbClr val="000000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Planning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&amp; troubleshooting</a:t>
                      </a:r>
                    </a:p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Overall Design</a:t>
                      </a:r>
                    </a:p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Enforce best practices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6314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"/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Business Systems Analyst 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Rakesh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100" b="0" i="0" u="none" strike="noStrike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Nayak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100" b="0" i="0" u="none" strike="noStrike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Ramachandra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Requirement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gathering, design, coding, unit testing and documentation</a:t>
                      </a: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Code and document review, </a:t>
                      </a:r>
                      <a:r>
                        <a:rPr lang="en-US" sz="1100" b="0" i="0" u="none" strike="noStrike" baseline="0" dirty="0" err="1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etc</a:t>
                      </a:r>
                      <a:endParaRPr lang="en-US" sz="1100" b="0" i="0" u="none" strike="noStrike" baseline="0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Troubleshooting and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UAT support,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cxnSp>
        <p:nvCxnSpPr>
          <p:cNvPr id="69" name="Shape 68"/>
          <p:cNvCxnSpPr>
            <a:stCxn id="36" idx="3"/>
            <a:endCxn id="74" idx="1"/>
          </p:cNvCxnSpPr>
          <p:nvPr/>
        </p:nvCxnSpPr>
        <p:spPr bwMode="auto">
          <a:xfrm flipV="1">
            <a:off x="2209006" y="1668385"/>
            <a:ext cx="724694" cy="83177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flipH="1">
            <a:off x="2209006" y="823758"/>
            <a:ext cx="686594" cy="137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/>
          <p:nvPr/>
        </p:nvCxnSpPr>
        <p:spPr bwMode="auto">
          <a:xfrm flipV="1">
            <a:off x="2190809" y="976158"/>
            <a:ext cx="704791" cy="29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Rounded Rectangle 73"/>
          <p:cNvSpPr/>
          <p:nvPr/>
        </p:nvSpPr>
        <p:spPr>
          <a:xfrm>
            <a:off x="2933700" y="1477091"/>
            <a:ext cx="3276600" cy="382588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dash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Arial"/>
                <a:ea typeface="+mn-ea"/>
              </a:rPr>
              <a:t>Delivery 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5600" y="685800"/>
            <a:ext cx="3352800" cy="457200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dash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>
                <a:latin typeface="Arial"/>
                <a:ea typeface="+mn-ea"/>
              </a:rPr>
              <a:t>Delivery Executive</a:t>
            </a:r>
          </a:p>
        </p:txBody>
      </p:sp>
      <p:cxnSp>
        <p:nvCxnSpPr>
          <p:cNvPr id="48" name="Elbow Connector 53"/>
          <p:cNvCxnSpPr>
            <a:cxnSpLocks noChangeShapeType="1"/>
            <a:stCxn id="25" idx="2"/>
            <a:endCxn id="74" idx="0"/>
          </p:cNvCxnSpPr>
          <p:nvPr/>
        </p:nvCxnSpPr>
        <p:spPr bwMode="auto">
          <a:xfrm rot="5400000">
            <a:off x="4404955" y="1310045"/>
            <a:ext cx="334091" cy="127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9EDA"/>
            </a:solidFill>
            <a:miter lim="800000"/>
            <a:headEnd/>
            <a:tailEnd/>
          </a:ln>
        </p:spPr>
      </p:cxnSp>
      <p:sp>
        <p:nvSpPr>
          <p:cNvPr id="17" name="Rounded Rectangle 16"/>
          <p:cNvSpPr/>
          <p:nvPr/>
        </p:nvSpPr>
        <p:spPr>
          <a:xfrm>
            <a:off x="536050" y="5257800"/>
            <a:ext cx="1561703" cy="852643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009FDA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fontAlgn="b"/>
            <a:r>
              <a:rPr lang="en-US" sz="1400" b="1" dirty="0">
                <a:latin typeface="Arial"/>
              </a:rPr>
              <a:t>Business Systems Analyst 2</a:t>
            </a:r>
            <a:endParaRPr lang="en-US" sz="14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Arrow Connector 9"/>
          <p:cNvCxnSpPr>
            <a:stCxn id="44" idx="2"/>
            <a:endCxn id="36" idx="0"/>
          </p:cNvCxnSpPr>
          <p:nvPr/>
        </p:nvCxnSpPr>
        <p:spPr bwMode="auto">
          <a:xfrm flipH="1">
            <a:off x="1294606" y="1600200"/>
            <a:ext cx="794" cy="4427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/>
          <p:cNvCxnSpPr>
            <a:endCxn id="47" idx="0"/>
          </p:cNvCxnSpPr>
          <p:nvPr/>
        </p:nvCxnSpPr>
        <p:spPr bwMode="auto">
          <a:xfrm flipH="1">
            <a:off x="1291881" y="2971800"/>
            <a:ext cx="793" cy="746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>
            <a:endCxn id="17" idx="0"/>
          </p:cNvCxnSpPr>
          <p:nvPr/>
        </p:nvCxnSpPr>
        <p:spPr bwMode="auto">
          <a:xfrm>
            <a:off x="1316901" y="4570637"/>
            <a:ext cx="1" cy="687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9" name="Image 76" descr="Capgemini_Logo_2COL_CMYK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3" t="27943" r="12292" b="27914"/>
          <a:stretch>
            <a:fillRect/>
          </a:stretch>
        </p:blipFill>
        <p:spPr bwMode="auto">
          <a:xfrm>
            <a:off x="6951499" y="6313805"/>
            <a:ext cx="2015490" cy="478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5941041"/>
      </p:ext>
    </p:extLst>
  </p:cSld>
  <p:clrMapOvr>
    <a:masterClrMapping/>
  </p:clrMapOvr>
</p:sld>
</file>

<file path=ppt/theme/theme1.xml><?xml version="1.0" encoding="utf-8"?>
<a:theme xmlns:a="http://schemas.openxmlformats.org/drawingml/2006/main" name="Org Chart Template - H1B Cap-2016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 MT Bd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810B2CBE4FF8438FC05213758D4BF8" ma:contentTypeVersion="0" ma:contentTypeDescription="Create a new document." ma:contentTypeScope="" ma:versionID="ed7e125ffb08f6b6e35804affb9ce815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AE5823-F144-4650-8627-1A3E7C1B62B8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4749920-E820-4023-A081-AD92869D95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6E4751B0-FBEE-49DE-AC0E-28C3165F66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 Chart Template - H1B Cap-2016</Template>
  <TotalTime>141</TotalTime>
  <Words>135</Words>
  <Application>Microsoft Office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MS PGothic</vt:lpstr>
      <vt:lpstr>Arial</vt:lpstr>
      <vt:lpstr>Arial MT Bd</vt:lpstr>
      <vt:lpstr>Times</vt:lpstr>
      <vt:lpstr>Org Chart Template - H1B Cap-2016</vt:lpstr>
      <vt:lpstr>PowerPoint Presentation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suhkale</dc:creator>
  <cp:lastModifiedBy>R, Rakesh</cp:lastModifiedBy>
  <cp:revision>30</cp:revision>
  <cp:lastPrinted>2009-09-23T17:52:06Z</cp:lastPrinted>
  <dcterms:created xsi:type="dcterms:W3CDTF">2016-01-15T10:01:20Z</dcterms:created>
  <dcterms:modified xsi:type="dcterms:W3CDTF">2020-01-21T15:57:56Z</dcterms:modified>
</cp:coreProperties>
</file>